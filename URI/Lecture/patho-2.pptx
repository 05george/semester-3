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78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5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99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4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68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79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3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6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A389097-06A0-4286-8FED-3B0E4371CB25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FBD49E-423A-4972-A5A7-F2BA84A3324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16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AA58-E8E2-AE02-4C08-9BF32DF7F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6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Urinary bladder </a:t>
            </a:r>
            <a:r>
              <a:rPr lang="en-US" sz="6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tumer</a:t>
            </a:r>
            <a:br>
              <a:rPr lang="en-US" sz="6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2FA2C-F380-8D5A-13E3-45C3E5BCE2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14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8D1A-467C-6D63-F3E3-32BC83F6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ILOs:  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AA1FB-2F3D-9CB0-265D-B94FE2992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Classify renal tumors.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Outline renal cell carcinoma features.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Outline nephroblastoma features.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Classify bladder tumors.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Describe transitional cell carcinoma.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Describe squamous cell carcinoma.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51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FAD1-D75E-73B5-7CA8-F1F291A7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Classification of Renal </a:t>
            </a:r>
            <a:r>
              <a:rPr lang="en-US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Tumours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 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84998-112C-52AF-310B-049B1B68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Benign: Adenoma, Oncocytoma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Malignant: Adenocarcinoma (RCC)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Renal pelvis: Transitional cell tumors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Embryonal: Wilms’ Tumor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Non-epithelial: Angiomyolipoma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Miscellaneous &amp; Metastatic tumors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34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D416-CE00-CAB4-7920-F81D46AA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Renal Cell Carcinoma (RCC):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1AF50-4189-A283-3572-3C2DB7930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88719"/>
            <a:ext cx="12390120" cy="5382677"/>
          </a:xfrm>
        </p:spPr>
        <p:txBody>
          <a:bodyPr>
            <a:normAutofit/>
          </a:bodyPr>
          <a:lstStyle/>
          <a:p>
            <a:r>
              <a:rPr lang="en-US" dirty="0"/>
              <a:t>Adenocarcinoma from tubular epithelium  </a:t>
            </a:r>
          </a:p>
          <a:p>
            <a:r>
              <a:rPr lang="en-US" dirty="0"/>
              <a:t>80–85% of renal cancers  </a:t>
            </a:r>
          </a:p>
          <a:p>
            <a:r>
              <a:rPr lang="en-US" dirty="0"/>
              <a:t>2–3% of adult cancers  </a:t>
            </a:r>
          </a:p>
          <a:p>
            <a:r>
              <a:rPr lang="en-US" dirty="0"/>
              <a:t>Peak incidence: 6th–7th decade  </a:t>
            </a:r>
          </a:p>
          <a:p>
            <a:r>
              <a:rPr lang="en-US" dirty="0"/>
              <a:t>Male predominance (2:1)  </a:t>
            </a:r>
          </a:p>
          <a:p>
            <a:r>
              <a:rPr lang="en-US" dirty="0">
                <a:solidFill>
                  <a:srgbClr val="FF0000"/>
                </a:solidFill>
              </a:rPr>
              <a:t>RCC Risk Factors:  </a:t>
            </a:r>
          </a:p>
          <a:p>
            <a:r>
              <a:rPr lang="en-US" dirty="0"/>
              <a:t>Tobacco  </a:t>
            </a:r>
          </a:p>
          <a:p>
            <a:r>
              <a:rPr lang="en-US" dirty="0"/>
              <a:t>Asbestos &amp; cadmium exposure  </a:t>
            </a:r>
          </a:p>
          <a:p>
            <a:r>
              <a:rPr lang="en-US" dirty="0"/>
              <a:t>Hypertension  </a:t>
            </a:r>
          </a:p>
          <a:p>
            <a:r>
              <a:rPr lang="en-US" dirty="0"/>
              <a:t>Cystic kidney disease  </a:t>
            </a:r>
          </a:p>
          <a:p>
            <a:r>
              <a:rPr lang="en-US" dirty="0"/>
              <a:t>Obesity &amp; estrogen therapy  </a:t>
            </a:r>
          </a:p>
          <a:p>
            <a:r>
              <a:rPr lang="en-US" dirty="0"/>
              <a:t>Hereditary (5% of cases)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1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CB54-D00D-A9A6-6BEC-704CA3D7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RCC Classification: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704DB-165F-9C77-C2A2-E723598FB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cell (most common)  </a:t>
            </a:r>
          </a:p>
          <a:p>
            <a:r>
              <a:rPr lang="en-US" dirty="0"/>
              <a:t>Papillary  </a:t>
            </a:r>
          </a:p>
          <a:p>
            <a:r>
              <a:rPr lang="en-US" dirty="0"/>
              <a:t>Chromophobe  </a:t>
            </a:r>
          </a:p>
          <a:p>
            <a:r>
              <a:rPr lang="en-US" dirty="0"/>
              <a:t>Granular cell  </a:t>
            </a:r>
          </a:p>
          <a:p>
            <a:r>
              <a:rPr lang="en-US" dirty="0" err="1"/>
              <a:t>Sarcomatoid</a:t>
            </a:r>
            <a:r>
              <a:rPr lang="en-US" dirty="0"/>
              <a:t>  </a:t>
            </a:r>
          </a:p>
          <a:p>
            <a:r>
              <a:rPr lang="en-US" dirty="0"/>
              <a:t>Collecting duct type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2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8BBCE-927A-FF26-2264-6A756843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Gross Picture of RCC:  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8F3B-D311-D9CD-D798-FEC4A1BB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Solitary, unilateral, often upper pole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Large, golden yellow, circumscribed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Papillary type: multifocal, bilateral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Areas of necrosis, cysts, hemorrhage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Tumor thrombus in renal vein  </a:t>
            </a:r>
          </a:p>
          <a:p>
            <a:endParaRPr lang="en-US" dirty="0"/>
          </a:p>
        </p:txBody>
      </p:sp>
      <p:pic>
        <p:nvPicPr>
          <p:cNvPr id="6" name="Image 149">
            <a:extLst>
              <a:ext uri="{FF2B5EF4-FFF2-40B4-BE49-F238E27FC236}">
                <a16:creationId xmlns:a16="http://schemas.microsoft.com/office/drawing/2014/main" id="{90726460-97C3-D8B1-99A5-CB621424695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73315" y="2076450"/>
            <a:ext cx="29146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9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2B70-2195-658E-18E0-C38A4268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Microscopic Picture of RCC: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DDEF-9B4F-CB36-FBEF-1B638CB8B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921087"/>
            <a:ext cx="11765280" cy="4936913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/>
              <a:t>Clear cell type (70%): clear cytoplasm  </a:t>
            </a:r>
          </a:p>
          <a:p>
            <a:r>
              <a:rPr lang="en-US" sz="2200" dirty="0"/>
              <a:t>Papillary type (15%): papillary pattern  </a:t>
            </a:r>
          </a:p>
          <a:p>
            <a:r>
              <a:rPr lang="en-US" sz="2200" dirty="0"/>
              <a:t>Chromophobe type (5%): mixed cells  </a:t>
            </a:r>
          </a:p>
          <a:p>
            <a:r>
              <a:rPr lang="en-US" sz="2200" dirty="0"/>
              <a:t>Perinuclear halo in chromophobe  </a:t>
            </a:r>
          </a:p>
          <a:p>
            <a:r>
              <a:rPr lang="en-US" sz="2200" dirty="0"/>
              <a:t>Clinical Picture of RCC:  </a:t>
            </a:r>
          </a:p>
          <a:p>
            <a:r>
              <a:rPr lang="en-US" sz="2200" dirty="0"/>
              <a:t>Gross hematuria  </a:t>
            </a:r>
          </a:p>
          <a:p>
            <a:r>
              <a:rPr lang="en-US" sz="2200" dirty="0"/>
              <a:t>Palpable abdominal mass  </a:t>
            </a:r>
          </a:p>
          <a:p>
            <a:r>
              <a:rPr lang="en-US" sz="2200" dirty="0"/>
              <a:t>Paraneoplastic syndromes:  </a:t>
            </a:r>
          </a:p>
          <a:p>
            <a:r>
              <a:rPr lang="en-US" sz="2200" dirty="0"/>
              <a:t>Polycythemia, hypercalcemia  </a:t>
            </a:r>
          </a:p>
          <a:p>
            <a:r>
              <a:rPr lang="en-US" sz="2200" dirty="0"/>
              <a:t>Hypertension, hormonal effects  </a:t>
            </a:r>
          </a:p>
          <a:p>
            <a:endParaRPr lang="en-US" dirty="0"/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54C9E9-461C-DBD4-339A-03418908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3440EF-2BA2-9580-7FD1-357390E2F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Papillary type 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0122F2-FCC2-0CF5-F542-CE400D067B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01D4F8-E4FD-187B-469B-2CF893041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Clear cell type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C01539-0D4F-3DAE-3C19-AF46C4BCD67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Image 210">
            <a:extLst>
              <a:ext uri="{FF2B5EF4-FFF2-40B4-BE49-F238E27FC236}">
                <a16:creationId xmlns:a16="http://schemas.microsoft.com/office/drawing/2014/main" id="{939A6D81-3AED-098F-B997-A3554E27B70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1065" y="2582334"/>
            <a:ext cx="5133975" cy="3687445"/>
          </a:xfrm>
          <a:prstGeom prst="rect">
            <a:avLst/>
          </a:prstGeom>
        </p:spPr>
      </p:pic>
      <p:pic>
        <p:nvPicPr>
          <p:cNvPr id="12" name="Image 183">
            <a:extLst>
              <a:ext uri="{FF2B5EF4-FFF2-40B4-BE49-F238E27FC236}">
                <a16:creationId xmlns:a16="http://schemas.microsoft.com/office/drawing/2014/main" id="{6510E27F-EF33-F6F9-F1E1-AF3941BC1A9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17920" y="2668693"/>
            <a:ext cx="507682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3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A56F-E940-B8A5-9FCD-0F014B86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Nephroblastoma (Wilms’ Tumor):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C785-7C7C-992A-EAF9-A972275BD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845734"/>
            <a:ext cx="10683240" cy="4585546"/>
          </a:xfrm>
        </p:spPr>
        <p:txBody>
          <a:bodyPr>
            <a:normAutofit/>
          </a:bodyPr>
          <a:lstStyle/>
          <a:p>
            <a:r>
              <a:rPr lang="en-US" dirty="0"/>
              <a:t>Embryonic tumor from renal components  </a:t>
            </a:r>
          </a:p>
          <a:p>
            <a:r>
              <a:rPr lang="en-US" dirty="0"/>
              <a:t>Most common abdominal malignancy in kids  </a:t>
            </a:r>
          </a:p>
          <a:p>
            <a:r>
              <a:rPr lang="en-US" dirty="0"/>
              <a:t>Age: 1–6 years  </a:t>
            </a:r>
          </a:p>
          <a:p>
            <a:r>
              <a:rPr lang="en-US" dirty="0"/>
              <a:t>Equal sex incidence  </a:t>
            </a:r>
          </a:p>
          <a:p>
            <a:r>
              <a:rPr lang="en-US" dirty="0"/>
              <a:t>Gross Picture of Wilms’ Tumor:  </a:t>
            </a:r>
          </a:p>
          <a:p>
            <a:r>
              <a:rPr lang="en-US" dirty="0"/>
              <a:t>Large, spheroidal, replaces kidney  </a:t>
            </a:r>
          </a:p>
          <a:p>
            <a:r>
              <a:rPr lang="en-US" dirty="0"/>
              <a:t>Usually solitary &amp; unilateral  </a:t>
            </a:r>
          </a:p>
          <a:p>
            <a:r>
              <a:rPr lang="en-US" dirty="0"/>
              <a:t>5–10% bilateral  </a:t>
            </a:r>
          </a:p>
          <a:p>
            <a:r>
              <a:rPr lang="en-US" dirty="0"/>
              <a:t>Fish flesh-like cut surface  </a:t>
            </a:r>
          </a:p>
          <a:p>
            <a:r>
              <a:rPr lang="en-US" dirty="0"/>
              <a:t>Necrosis, hemorrhage, myxomatous areas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502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F47B-B8D0-F600-435F-97773BB0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Microscopic Picture of Wilms’: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744EB-87C1-CB50-7225-826ED1B6D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Triphasic: epithelial &amp; mesenchymal  </a:t>
            </a:r>
          </a:p>
          <a:p>
            <a:r>
              <a:rPr lang="en-US" dirty="0"/>
              <a:t>Blastemal cells (small, round to spindled)  </a:t>
            </a:r>
          </a:p>
          <a:p>
            <a:r>
              <a:rPr lang="en-US" dirty="0"/>
              <a:t>Abortive tubules &amp; glomerular structures  </a:t>
            </a:r>
          </a:p>
          <a:p>
            <a:r>
              <a:rPr lang="en-US" dirty="0">
                <a:solidFill>
                  <a:srgbClr val="FF0000"/>
                </a:solidFill>
              </a:rPr>
              <a:t>Clinical Picture of Wilms’ Tumor:  </a:t>
            </a:r>
          </a:p>
          <a:p>
            <a:r>
              <a:rPr lang="en-US" dirty="0"/>
              <a:t>Palpable abdominal mass in child  </a:t>
            </a:r>
          </a:p>
          <a:p>
            <a:r>
              <a:rPr lang="en-US" dirty="0"/>
              <a:t>Hematuria, pain, fever, hypertension  </a:t>
            </a:r>
          </a:p>
          <a:p>
            <a:r>
              <a:rPr lang="en-US" dirty="0"/>
              <a:t>Rapid spread via blood → lungs  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Image 282">
            <a:extLst>
              <a:ext uri="{FF2B5EF4-FFF2-40B4-BE49-F238E27FC236}">
                <a16:creationId xmlns:a16="http://schemas.microsoft.com/office/drawing/2014/main" id="{F0F4F61D-862B-C95F-912C-93D7D0BDF171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26480" y="2439987"/>
            <a:ext cx="5943600" cy="231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5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F79F-E722-35E9-B433-A94E4336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Classification of Bladder Tumors:  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079F8-C052-C68F-DC9E-FF8D0903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Benign: Villous/inverted papilloma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Mesenchymal: Fibroma, Leiomyoma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Malignant: Carcinoma, Sarcoma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Carcinosarcoma, Lymphoma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Secondary tumors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3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9EE7-3240-3BA2-DE64-7F218ADCD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Bladder Carcinoma Risk Factors: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BC1FF-1D90-0568-D2A8-B9CE6E9C9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Schistosomiasis (common in Egypt)  </a:t>
            </a:r>
          </a:p>
          <a:p>
            <a:r>
              <a:rPr lang="en-US" dirty="0"/>
              <a:t>Industrial chemicals (aniline, rubber)  </a:t>
            </a:r>
          </a:p>
          <a:p>
            <a:r>
              <a:rPr lang="en-US" dirty="0"/>
              <a:t>Local lesions (diverticulum, stones)  </a:t>
            </a:r>
          </a:p>
          <a:p>
            <a:r>
              <a:rPr lang="en-US" dirty="0"/>
              <a:t>Smoking (2–3× risk)</a:t>
            </a:r>
          </a:p>
          <a:p>
            <a:r>
              <a:rPr lang="en-US" dirty="0">
                <a:solidFill>
                  <a:srgbClr val="FF0000"/>
                </a:solidFill>
              </a:rPr>
              <a:t> Gross Picture of Bladder Carcinoma:  </a:t>
            </a:r>
          </a:p>
          <a:p>
            <a:r>
              <a:rPr lang="en-US" dirty="0"/>
              <a:t>Papillary (common in non-bilharzial)  </a:t>
            </a:r>
          </a:p>
          <a:p>
            <a:r>
              <a:rPr lang="en-US" dirty="0"/>
              <a:t>Non-papillary: polypoid, ulcerative  </a:t>
            </a:r>
          </a:p>
          <a:p>
            <a:r>
              <a:rPr lang="en-US" dirty="0"/>
              <a:t>Infiltrative or combined patterns  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Image 607">
            <a:extLst>
              <a:ext uri="{FF2B5EF4-FFF2-40B4-BE49-F238E27FC236}">
                <a16:creationId xmlns:a16="http://schemas.microsoft.com/office/drawing/2014/main" id="{D03CEC17-5938-E2DD-3144-F1FD4EFBEDD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2176251"/>
            <a:ext cx="502920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50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9BF3-D1C1-96F8-1035-D1E48D00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Microscopic Picture – TCC: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BD113-14FC-E04E-AD7B-4AE22078B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Papillary pattern: exophytic villi  </a:t>
            </a:r>
          </a:p>
          <a:p>
            <a:r>
              <a:rPr lang="en-US" dirty="0"/>
              <a:t>Covered by malignant urothelial cells  </a:t>
            </a:r>
          </a:p>
          <a:p>
            <a:r>
              <a:rPr lang="en-US" dirty="0"/>
              <a:t>Non-papillary: solid, invasive  </a:t>
            </a:r>
          </a:p>
          <a:p>
            <a:r>
              <a:rPr lang="en-US" dirty="0"/>
              <a:t>Usually high grade  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0618DB-4BC1-1049-9F09-E1682C9FE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292" y="1737360"/>
            <a:ext cx="4829379" cy="453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8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EDD6-2DF5-0B5D-E2E3-45AE889B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Microscopic Picture – SCC: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D2D8-B8AC-3165-6E4F-05A54207F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98134"/>
            <a:ext cx="10058400" cy="4023360"/>
          </a:xfrm>
        </p:spPr>
        <p:txBody>
          <a:bodyPr/>
          <a:lstStyle/>
          <a:p>
            <a:r>
              <a:rPr lang="en-US" dirty="0"/>
              <a:t>Infiltrative squamous carcinoma  </a:t>
            </a:r>
          </a:p>
          <a:p>
            <a:r>
              <a:rPr lang="en-US" dirty="0"/>
              <a:t>Often arises from bilharzial cystitis  </a:t>
            </a:r>
          </a:p>
          <a:p>
            <a:r>
              <a:rPr lang="en-US" dirty="0"/>
              <a:t>Grading based on keratin pearl formation 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841699-1C38-A4A4-4BFC-4E43AF73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008" y="2232676"/>
            <a:ext cx="5541744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2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736B-40A9-A439-5350-0087093E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Bladder Carcinoma: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70730-FEFD-8DB0-934B-493D01F5D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situ → Stage I (urothelium)  </a:t>
            </a:r>
          </a:p>
          <a:p>
            <a:r>
              <a:rPr lang="en-US" dirty="0"/>
              <a:t>Stage II (lamina propria)  </a:t>
            </a:r>
          </a:p>
          <a:p>
            <a:r>
              <a:rPr lang="en-US" dirty="0"/>
              <a:t>Stage III (muscle)  </a:t>
            </a:r>
          </a:p>
          <a:p>
            <a:r>
              <a:rPr lang="en-US" dirty="0"/>
              <a:t>Stage IV (serosa/fat/metastasis)  </a:t>
            </a:r>
          </a:p>
          <a:p>
            <a:r>
              <a:rPr lang="en-US" dirty="0">
                <a:solidFill>
                  <a:srgbClr val="FF0000"/>
                </a:solidFill>
              </a:rPr>
              <a:t>Effects &amp; Complications of Bladder Cancer:  </a:t>
            </a:r>
          </a:p>
          <a:p>
            <a:r>
              <a:rPr lang="en-US" dirty="0"/>
              <a:t>Spread: direct, lymphatic, hematogenous  </a:t>
            </a:r>
          </a:p>
          <a:p>
            <a:r>
              <a:rPr lang="en-US" dirty="0"/>
              <a:t>Urinary obstruction → renal failure  </a:t>
            </a:r>
          </a:p>
          <a:p>
            <a:r>
              <a:rPr lang="en-US" dirty="0"/>
              <a:t>Infection: cystitis, pyelonephritis  </a:t>
            </a:r>
          </a:p>
          <a:p>
            <a:r>
              <a:rPr lang="en-US" dirty="0"/>
              <a:t>Hematuria, fistula formation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92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</TotalTime>
  <Words>542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Retrospect</vt:lpstr>
      <vt:lpstr>Urinary bladder tumer </vt:lpstr>
      <vt:lpstr>ILOs:   </vt:lpstr>
      <vt:lpstr>Classification of Renal Tumours:   </vt:lpstr>
      <vt:lpstr>Renal Cell Carcinoma (RCC):   </vt:lpstr>
      <vt:lpstr>RCC Classification:   </vt:lpstr>
      <vt:lpstr>Gross Picture of RCC:   </vt:lpstr>
      <vt:lpstr>Microscopic Picture of RCC:   </vt:lpstr>
      <vt:lpstr>RCC</vt:lpstr>
      <vt:lpstr>Nephroblastoma (Wilms’ Tumor):   </vt:lpstr>
      <vt:lpstr>Microscopic Picture of Wilms’:   </vt:lpstr>
      <vt:lpstr>Classification of Bladder Tumors:   </vt:lpstr>
      <vt:lpstr>Bladder Carcinoma Risk Factors:   </vt:lpstr>
      <vt:lpstr>Microscopic Picture – TCC:   </vt:lpstr>
      <vt:lpstr>Microscopic Picture – SCC:   </vt:lpstr>
      <vt:lpstr>Stages of Bladder Carcinoma: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Nora</dc:creator>
  <cp:lastModifiedBy>Nora</cp:lastModifiedBy>
  <cp:revision>1</cp:revision>
  <dcterms:created xsi:type="dcterms:W3CDTF">2025-12-18T00:36:33Z</dcterms:created>
  <dcterms:modified xsi:type="dcterms:W3CDTF">2025-12-18T00:56:11Z</dcterms:modified>
</cp:coreProperties>
</file>